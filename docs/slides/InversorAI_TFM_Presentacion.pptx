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6000" b="1">
                <a:solidFill>
                  <a:srgbClr val="FFFFFF"/>
                </a:solidFill>
                <a:latin typeface="Calibri Light"/>
              </a:defRPr>
            </a:pPr>
            <a:r>
              <a:t>InversorAI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0">
                <a:solidFill>
                  <a:srgbClr val="02C39A"/>
                </a:solidFill>
                <a:latin typeface="Calibri"/>
              </a:defRPr>
            </a:pPr>
            <a:r>
              <a:t>Plataforma de Análisis Financiero con IA Explicable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834640"/>
            <a:ext cx="1828800" cy="1828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10896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94A3B8"/>
                </a:solidFill>
                <a:latin typeface="Calibri"/>
              </a:defRPr>
            </a:pPr>
            <a:r>
              <a:t>Trabajo Final de Máster</a:t>
            </a:r>
          </a:p>
          <a:p>
            <a:pPr>
              <a:defRPr sz="1400" b="0">
                <a:solidFill>
                  <a:srgbClr val="94A3B8"/>
                </a:solidFill>
                <a:latin typeface="Calibri"/>
              </a:defRPr>
            </a:pPr>
            <a:r>
              <a:t>Máster en Desarrollo de Sistemas con IA</a:t>
            </a:r>
          </a:p>
          <a:p>
            <a:pPr>
              <a:defRPr sz="1400" b="0">
                <a:solidFill>
                  <a:srgbClr val="94A3B8"/>
                </a:solidFill>
                <a:latin typeface="Calibri"/>
              </a:defRPr>
            </a:pPr>
            <a:r>
              <a:t>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301752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2C39A"/>
                </a:solidFill>
                <a:latin typeface="Calibri"/>
              </a:defRPr>
            </a:pPr>
            <a:r>
              <a:t>180+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34290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Tests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301752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2C39A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34290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Etapas 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301752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2C39A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34290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Tipos de Activos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Calibri Light"/>
              </a:defRPr>
            </a:pPr>
            <a:r>
              <a:t>El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94A3B8"/>
                </a:solidFill>
                <a:latin typeface="Calibri"/>
              </a:defRPr>
            </a:pPr>
            <a:r>
              <a:t>La IA en sistemas financieros: sin control, sin trazabilidad, sin confianza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4023360" cy="1371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54864" cy="1371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Calibri"/>
              </a:defRPr>
            </a:pPr>
            <a:r>
              <a:t>Caja Negra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94A3B8"/>
                </a:solidFill>
                <a:latin typeface="Calibri"/>
              </a:defRPr>
            </a:pPr>
            <a:r>
              <a:t>Los sistemas de IA no explican sus decisiones ni permiten auditoría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1463040"/>
            <a:ext cx="4023360" cy="1371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0" y="1463040"/>
            <a:ext cx="54864" cy="1371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16002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Calibri"/>
              </a:defRPr>
            </a:pPr>
            <a:r>
              <a:t>Sin Trazabilidad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196596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94A3B8"/>
                </a:solidFill>
                <a:latin typeface="Calibri"/>
              </a:defRPr>
            </a:pPr>
            <a:r>
              <a:t>Imposible rastrear qué datos y qué versión del modelo generó cada resultado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017520"/>
            <a:ext cx="4023360" cy="1371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017520"/>
            <a:ext cx="54864" cy="1371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154679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Calibri"/>
              </a:defRPr>
            </a:pPr>
            <a:r>
              <a:t>Alucinaciones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520439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94A3B8"/>
                </a:solidFill>
                <a:latin typeface="Calibri"/>
              </a:defRPr>
            </a:pPr>
            <a:r>
              <a:t>Los LLMs pueden generar información falsa sin mecanismos de validación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0" y="3017520"/>
            <a:ext cx="4023360" cy="1371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754880" y="3017520"/>
            <a:ext cx="54864" cy="1371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37760" y="3154679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Calibri"/>
              </a:defRPr>
            </a:pPr>
            <a:r>
              <a:t>Sin Verificación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3520439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94A3B8"/>
                </a:solidFill>
                <a:latin typeface="Calibri"/>
              </a:defRPr>
            </a:pPr>
            <a:r>
              <a:t>Los insights no son contrastables con fuentes externas reales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480560"/>
            <a:ext cx="8229600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572000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02C39A"/>
                </a:solidFill>
                <a:latin typeface="Calibri"/>
              </a:defRPr>
            </a:pPr>
            <a:r>
              <a:t>El foco de este proyecto es la ingeniería del sistema, no predecir el mercado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 Light"/>
              </a:defRPr>
            </a:pPr>
            <a:r>
              <a:t>La Solución: InversorAI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02C39A"/>
                </a:solidFill>
                <a:latin typeface="Calibri"/>
              </a:defRPr>
            </a:pPr>
            <a:r>
              <a:t>IA Controlada • Trazable • Auditable • Desplegable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4023360" cy="1508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54864" cy="15087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Datos Reales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94A3B8"/>
                </a:solidFill>
                <a:latin typeface="Calibri"/>
              </a:defRPr>
            </a:pPr>
            <a:r>
              <a:t>Yahoo Finance con precios verificables en Google Finance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1325880"/>
            <a:ext cx="4023360" cy="1508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0" y="1325880"/>
            <a:ext cx="54864" cy="15087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15087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IA Explicable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192024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94A3B8"/>
                </a:solidFill>
                <a:latin typeface="Calibri"/>
              </a:defRPr>
            </a:pPr>
            <a:r>
              <a:t>Prompts versionados, outputs validados con Zod, trazabilidad completa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017520"/>
            <a:ext cx="4023360" cy="1508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017520"/>
            <a:ext cx="54864" cy="15087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2004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Seguridad RBAC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611879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94A3B8"/>
                </a:solidFill>
                <a:latin typeface="Calibri"/>
              </a:defRPr>
            </a:pPr>
            <a:r>
              <a:t>JWT local, step-up auth, audit logging, protección de último admin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0" y="3017520"/>
            <a:ext cx="4023360" cy="1508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754880" y="3017520"/>
            <a:ext cx="54864" cy="15087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37760" y="32004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Production Ready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3611879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94A3B8"/>
                </a:solidFill>
                <a:latin typeface="Calibri"/>
              </a:defRPr>
            </a:pPr>
            <a:r>
              <a:t>Clean Architecture, 180+ tests, CI/CD, despliegue documentado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Calibri Light"/>
              </a:defRPr>
            </a:pPr>
            <a:r>
              <a:t>Alcance del MVP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Calibri"/>
              </a:defRPr>
            </a:pPr>
            <a:r>
              <a:t>✓  Incluido en el MVP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0F172A"/>
                </a:solidFill>
                <a:latin typeface="Calibri"/>
              </a:defRPr>
            </a:pPr>
            <a:r>
              <a:t>•  BTC-USD (Crypto), AAPL (Stock), EURUSD=X (FX)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19072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0F172A"/>
                </a:solidFill>
                <a:latin typeface="Calibri"/>
              </a:defRPr>
            </a:pPr>
            <a:r>
              <a:t>•  Datos reales de Yahoo Finance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66543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0F172A"/>
                </a:solidFill>
                <a:latin typeface="Calibri"/>
              </a:defRPr>
            </a:pPr>
            <a:r>
              <a:t>•  Indicadores: RSI, MACD, Volatilidad, Sharpe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14016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0F172A"/>
                </a:solidFill>
                <a:latin typeface="Calibri"/>
              </a:defRPr>
            </a:pPr>
            <a:r>
              <a:t>•  Recomendaciones BUY / HOLD / SELL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61488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0F172A"/>
                </a:solidFill>
                <a:latin typeface="Calibri"/>
              </a:defRPr>
            </a:pPr>
            <a:r>
              <a:t>•  Confidence score por recomendación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10896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0F172A"/>
                </a:solidFill>
                <a:latin typeface="Calibri"/>
              </a:defRPr>
            </a:pPr>
            <a:r>
              <a:t>•  Dashboard web + API REST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56432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0F172A"/>
                </a:solidFill>
                <a:latin typeface="Calibri"/>
              </a:defRPr>
            </a:pPr>
            <a:r>
              <a:t>•  Autenticación Supabase + RBAC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100584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F4444"/>
                </a:solidFill>
                <a:latin typeface="Calibri"/>
              </a:defRPr>
            </a:pPr>
            <a:r>
              <a:t>✗  Fuera de Alcance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137160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 Ejecución de órdenes reales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1719072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 Asesoramiento financiero vinculante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066543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 Trading algorítmico autónomo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2414016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 Integración con brokers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2761488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 MFA (decisión de simplificación)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310896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 Scheduler automático (on-demand)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023360"/>
            <a:ext cx="8229600" cy="9144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16052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0F172A"/>
                </a:solidFill>
                <a:latin typeface="Calibri"/>
              </a:defRPr>
            </a:pPr>
            <a:r>
              <a:t>Decisión intencional: El alcance está definido para ser técnicamente sólido y académicamente defendible. El foco es demostrar ingeniería de sistemas con IA, no rentabilidad financiera.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Calibri Light"/>
              </a:defRPr>
            </a:pPr>
            <a:r>
              <a:t>Arquitectura Clean / Hexagonal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2011680"/>
            <a:ext cx="1097280" cy="822960"/>
          </a:xfrm>
          <a:prstGeom prst="rect">
            <a:avLst/>
          </a:prstGeom>
          <a:solidFill>
            <a:srgbClr val="1E293B"/>
          </a:solidFill>
          <a:ln w="254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148840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94A3B8"/>
                </a:solidFill>
                <a:latin typeface="Calibri"/>
              </a:defRPr>
            </a:pPr>
            <a:r>
              <a:t>Yahoo</a:t>
            </a:r>
            <a:br/>
            <a:r>
              <a:t>Finance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0" y="2011680"/>
            <a:ext cx="1280160" cy="822960"/>
          </a:xfrm>
          <a:prstGeom prst="rect">
            <a:avLst/>
          </a:prstGeom>
          <a:solidFill>
            <a:srgbClr val="1E293B"/>
          </a:solidFill>
          <a:ln w="254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214884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2C39A"/>
                </a:solidFill>
                <a:latin typeface="Calibri"/>
              </a:defRPr>
            </a:pPr>
            <a:r>
              <a:t>Frontend</a:t>
            </a:r>
            <a:br/>
            <a:r>
              <a:t>Next.js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2011680"/>
            <a:ext cx="1371600" cy="822960"/>
          </a:xfrm>
          <a:prstGeom prst="rect">
            <a:avLst/>
          </a:prstGeom>
          <a:solidFill>
            <a:srgbClr val="1E293B"/>
          </a:solidFill>
          <a:ln w="254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14884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2C39A"/>
                </a:solidFill>
                <a:latin typeface="Calibri"/>
              </a:defRPr>
            </a:pPr>
            <a:r>
              <a:t>Backend</a:t>
            </a:r>
            <a:br/>
            <a:r>
              <a:t>Node/Express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77840" y="2011680"/>
            <a:ext cx="1371600" cy="822960"/>
          </a:xfrm>
          <a:prstGeom prst="rect">
            <a:avLst/>
          </a:prstGeom>
          <a:solidFill>
            <a:srgbClr val="1E293B"/>
          </a:solidFill>
          <a:ln w="254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77840" y="214884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2C39A"/>
                </a:solidFill>
                <a:latin typeface="Calibri"/>
              </a:defRPr>
            </a:pPr>
            <a:r>
              <a:t>Supabase</a:t>
            </a:r>
            <a:br/>
            <a:r>
              <a:t>Postgres+Auth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79" y="2011680"/>
            <a:ext cx="1097280" cy="822960"/>
          </a:xfrm>
          <a:prstGeom prst="rect">
            <a:avLst/>
          </a:prstGeom>
          <a:solidFill>
            <a:srgbClr val="1E293B"/>
          </a:solidFill>
          <a:ln w="254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79" y="2148840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94A3B8"/>
                </a:solidFill>
                <a:latin typeface="Calibri"/>
              </a:defRPr>
            </a:pPr>
            <a:r>
              <a:t>OpenAI</a:t>
            </a:r>
            <a:br/>
            <a:r>
              <a:t>GPT-4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331720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2C39A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2331720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2C39A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2331720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2C39A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2331720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2C39A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2C39A"/>
                </a:solidFill>
                <a:latin typeface="Calibri"/>
              </a:defRPr>
            </a:pPr>
            <a:r>
              <a:t>Principios de Diseño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61188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 Providers externos solo para ingesta y escritura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361188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 PostgreSQL como fuente de verdad (todas las lecturas)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06908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 Separación: Dominio → Aplicación → Infraestructura → Interfaces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406908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 Casos de uso como unidad central de organización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  <a:latin typeface="Calibri Light"/>
              </a:defRPr>
            </a:pPr>
            <a:r>
              <a:t>Pipeline de Análisis</a:t>
            </a:r>
          </a:p>
        </p:txBody>
      </p:sp>
      <p:sp>
        <p:nvSpPr>
          <p:cNvPr id="4" name="Oval 3"/>
          <p:cNvSpPr/>
          <p:nvPr/>
        </p:nvSpPr>
        <p:spPr>
          <a:xfrm>
            <a:off x="822960" y="1097280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7043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691640"/>
            <a:ext cx="1463040" cy="1463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59" y="178308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Calibri"/>
              </a:defRPr>
            </a:pPr>
            <a:r>
              <a:t>Ingest</a:t>
            </a:r>
            <a:br/>
            <a:r>
              <a:t>MarketData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59" y="228600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OHLCV desde</a:t>
            </a:r>
            <a:br/>
            <a:r>
              <a:t>Yahoo Finance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219456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2809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0" name="Oval 9"/>
          <p:cNvSpPr/>
          <p:nvPr/>
        </p:nvSpPr>
        <p:spPr>
          <a:xfrm>
            <a:off x="2560320" y="1097280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0" y="117043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57400" y="1691640"/>
            <a:ext cx="1463040" cy="1463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03120" y="178308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Calibri"/>
              </a:defRPr>
            </a:pPr>
            <a:r>
              <a:t>Compute</a:t>
            </a:r>
            <a:br/>
            <a:r>
              <a:t>Indicators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228600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RSI, MACD,</a:t>
            </a:r>
            <a:br/>
            <a:r>
              <a:t>Volatilidad, Sharpe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19456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2809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Oval 15"/>
          <p:cNvSpPr/>
          <p:nvPr/>
        </p:nvSpPr>
        <p:spPr>
          <a:xfrm>
            <a:off x="4297679" y="1097280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79" y="117043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94759" y="1691640"/>
            <a:ext cx="1463040" cy="1463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79" y="178308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Calibri"/>
              </a:defRPr>
            </a:pPr>
            <a:r>
              <a:t>Analyze</a:t>
            </a:r>
            <a:br/>
            <a:r>
              <a:t>Trends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79" y="228600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Análisis</a:t>
            </a:r>
            <a:br/>
            <a:r>
              <a:t>determinístico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57800" y="219456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2809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2" name="Oval 21"/>
          <p:cNvSpPr/>
          <p:nvPr/>
        </p:nvSpPr>
        <p:spPr>
          <a:xfrm>
            <a:off x="6035039" y="1097280"/>
            <a:ext cx="457200" cy="45720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39" y="117043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532119" y="1691640"/>
            <a:ext cx="1463040" cy="1463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77839" y="178308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Calibri"/>
              </a:defRPr>
            </a:pPr>
            <a:r>
              <a:t>Generate</a:t>
            </a:r>
            <a:br/>
            <a:r>
              <a:t>Insight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7839" y="228600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IA con output</a:t>
            </a:r>
            <a:br/>
            <a:r>
              <a:t>validado (Zod)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59" y="219456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2809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8" name="Oval 27"/>
          <p:cNvSpPr/>
          <p:nvPr/>
        </p:nvSpPr>
        <p:spPr>
          <a:xfrm>
            <a:off x="7772400" y="1097280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0" y="117043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69479" y="1691640"/>
            <a:ext cx="1463040" cy="1463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199" y="178308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Calibri"/>
              </a:defRPr>
            </a:pPr>
            <a:r>
              <a:t>Persist</a:t>
            </a:r>
            <a:br/>
            <a:r>
              <a:t>Result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199" y="228600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Auditable en</a:t>
            </a:r>
            <a:br/>
            <a:r>
              <a:t>PostgreSQL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3383280"/>
            <a:ext cx="8229600" cy="1554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35204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2C39A"/>
                </a:solidFill>
                <a:latin typeface="Calibri"/>
              </a:defRPr>
            </a:pPr>
            <a:r>
              <a:t>Ejecución del Pipeline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393192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FFFFFF"/>
                </a:solidFill>
                <a:latin typeface="Calibri"/>
              </a:defRPr>
            </a:pPr>
            <a:r>
              <a:t>•  POST /api/v1/admin/pipeline/run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54880" y="393192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FFFFFF"/>
                </a:solidFill>
                <a:latin typeface="Calibri"/>
              </a:defRPr>
            </a:pPr>
            <a:r>
              <a:t>•  Protegido por rol ADMIN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434340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FFFFFF"/>
                </a:solidFill>
                <a:latin typeface="Calibri"/>
              </a:defRPr>
            </a:pPr>
            <a:r>
              <a:t>•  Rate limiting por (admin, asset)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54880" y="434340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FFFFFF"/>
                </a:solidFill>
                <a:latin typeface="Calibri"/>
              </a:defRPr>
            </a:pPr>
            <a:r>
              <a:t>•  Resultado persistido para auditoría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Calibri Light"/>
              </a:defRPr>
            </a:pPr>
            <a:r>
              <a:t>Modelo de Seguridad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2651760" cy="2468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2651760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Calibri"/>
              </a:defRPr>
            </a:pPr>
            <a:r>
              <a:t>Autenticación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9164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 Supabase Auth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0312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 JWT verificado via JWKS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51460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 Librería jose (local)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2608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 Sin llamadas externas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1005840"/>
            <a:ext cx="2651760" cy="2468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37560" y="1005840"/>
            <a:ext cx="2651760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118872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Calibri"/>
              </a:defRPr>
            </a:pPr>
            <a:r>
              <a:t>Autorización RBAC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169164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 Roles: USER / ADMIN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10312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 app_metadata.inversorai_role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251460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 Middleware server-side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92608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 Default: USER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005840"/>
            <a:ext cx="2651760" cy="2468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1005840"/>
            <a:ext cx="2651760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118872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Calibri"/>
              </a:defRPr>
            </a:pPr>
            <a:r>
              <a:t>Step-up Auth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169164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 Token reciente requerido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10312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 &lt; 5 min para cambios de 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251460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 401 REAUTH_REQUIRED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292608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 Configurable via env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657600"/>
            <a:ext cx="8229600" cy="6400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7947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Verificación JWT local via JWKS = independencia del servicio de Auth + mejor performance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Auditoría: Todas las acciones sensibles quedan registradas con requestId, userId, timestamp y resultado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  <a:latin typeface="Calibri Light"/>
              </a:defRPr>
            </a:pPr>
            <a:r>
              <a:t>Guardrails de Producción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24128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Calibri"/>
              </a:defRPr>
            </a:pPr>
            <a:r>
              <a:t>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0" y="102412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Calibri"/>
              </a:defRPr>
            </a:pPr>
            <a:r>
              <a:t>Implementación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8229600" cy="38404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44752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Calibri"/>
              </a:defRPr>
            </a:pPr>
            <a:r>
              <a:t>Fake providers bloqueados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144475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0F172A"/>
                </a:solidFill>
                <a:latin typeface="Calibri"/>
              </a:defRPr>
            </a:pPr>
            <a:r>
              <a:t>MARKET_DATA_PROVIDER=REAL obligatorio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755648"/>
            <a:ext cx="8229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82880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Calibri"/>
              </a:defRPr>
            </a:pPr>
            <a:r>
              <a:t>CORS allowlist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1828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0F172A"/>
                </a:solidFill>
                <a:latin typeface="Calibri"/>
              </a:defRPr>
            </a:pPr>
            <a:r>
              <a:t>Via CORS_ORIGINS (wildcard prohibido)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139696"/>
            <a:ext cx="8229600" cy="38404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212848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Calibri"/>
              </a:defRPr>
            </a:pPr>
            <a:r>
              <a:t>Body size limit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2212848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0F172A"/>
                </a:solidFill>
                <a:latin typeface="Calibri"/>
              </a:defRPr>
            </a:pPr>
            <a:r>
              <a:t>1MB máximo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523744"/>
            <a:ext cx="8229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596896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Calibri"/>
              </a:defRPr>
            </a:pPr>
            <a:r>
              <a:t>Headers seguros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2596896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0F172A"/>
                </a:solidFill>
                <a:latin typeface="Calibri"/>
              </a:defRPr>
            </a:pPr>
            <a:r>
              <a:t>Helmet (CSP, X-Frame-Options, etc.)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907791"/>
            <a:ext cx="8229600" cy="38404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980944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Calibri"/>
              </a:defRPr>
            </a:pPr>
            <a:r>
              <a:t>Rate limiting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2980944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0F172A"/>
                </a:solidFill>
                <a:latin typeface="Calibri"/>
              </a:defRPr>
            </a:pPr>
            <a:r>
              <a:t>Por (ADMIN, asset) - distribuido opcional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291840"/>
            <a:ext cx="8229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364992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Calibri"/>
              </a:defRPr>
            </a:pPr>
            <a:r>
              <a:t>Request tracking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336499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0F172A"/>
                </a:solidFill>
                <a:latin typeface="Calibri"/>
              </a:defRPr>
            </a:pPr>
            <a:r>
              <a:t>UUID por request (X-Request-Id)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675887"/>
            <a:ext cx="8229600" cy="38404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3749039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Calibri"/>
              </a:defRPr>
            </a:pPr>
            <a:r>
              <a:t>Audit logging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920" y="374903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0F172A"/>
                </a:solidFill>
                <a:latin typeface="Calibri"/>
              </a:defRPr>
            </a:pPr>
            <a:r>
              <a:t>Persistencia opcional en Supabase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059935"/>
            <a:ext cx="8229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133087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Calibri"/>
              </a:defRPr>
            </a:pPr>
            <a:r>
              <a:t>npm audit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31920" y="4133087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0F172A"/>
                </a:solidFill>
                <a:latin typeface="Calibri"/>
              </a:defRPr>
            </a:pPr>
            <a:r>
              <a:t>En CI con audit-level=high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480560"/>
            <a:ext cx="8229600" cy="5029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4572000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FAIL-FAST: El servidor NO inicia si la configuración es inválida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Calibri Light"/>
              </a:defRPr>
            </a:pPr>
            <a:r>
              <a:t>Control de IA: Sin Cajas Negras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02C39A"/>
                </a:solidFill>
                <a:latin typeface="Calibri"/>
              </a:defRPr>
            </a:pPr>
            <a:r>
              <a:t>"No testeo si la IA tiene razón, testeo que el sistema use la IA correctamente"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4023360" cy="1417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4864" cy="14173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19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Calibri"/>
              </a:defRPr>
            </a:pPr>
            <a:r>
              <a:t>Prompts Versionados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94A3B8"/>
                </a:solidFill>
                <a:latin typeface="Calibri"/>
              </a:defRPr>
            </a:pPr>
            <a:r>
              <a:t>prompt_version persistido</a:t>
            </a:r>
            <a:br/>
            <a:r>
              <a:t>con cada insight generado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1280160"/>
            <a:ext cx="4023360" cy="1417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0" y="1280160"/>
            <a:ext cx="54864" cy="14173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1417319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Calibri"/>
              </a:defRPr>
            </a:pPr>
            <a:r>
              <a:t>Input Sanitizado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182880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94A3B8"/>
                </a:solidFill>
                <a:latin typeface="Calibri"/>
              </a:defRPr>
            </a:pPr>
            <a:r>
              <a:t>Prevención de injection:</a:t>
            </a:r>
            <a:br/>
            <a:r>
              <a:t>{}, &lt;&gt;, backticks removidos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926080"/>
            <a:ext cx="4023360" cy="1417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926080"/>
            <a:ext cx="54864" cy="14173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0632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Calibri"/>
              </a:defRPr>
            </a:pPr>
            <a:r>
              <a:t>Output Validado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47472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94A3B8"/>
                </a:solidFill>
                <a:latin typeface="Calibri"/>
              </a:defRPr>
            </a:pPr>
            <a:r>
              <a:t>Schema Zod estricto:</a:t>
            </a:r>
            <a:br/>
            <a:r>
              <a:t>acción, confianza, razonamiento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0" y="2926080"/>
            <a:ext cx="4023360" cy="1417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754880" y="2926080"/>
            <a:ext cx="54864" cy="14173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37760" y="30632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Calibri"/>
              </a:defRPr>
            </a:pPr>
            <a:r>
              <a:t>Trazabilidad Total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347472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94A3B8"/>
                </a:solidFill>
                <a:latin typeface="Calibri"/>
              </a:defRPr>
            </a:pPr>
            <a:r>
              <a:t>input_hash, model_version,</a:t>
            </a:r>
            <a:br/>
            <a:r>
              <a:t>timestamp, prompt_version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Output validado:  action: BUY|HOLD|SELL  •  confidence_score: 0-100  •  reasoning: string  •  risk_level: LOW|MEDIUM|HIGH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  <a:latin typeface="Calibri Light"/>
              </a:defRPr>
            </a:pPr>
            <a:r>
              <a:t>Testing y Calidad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28090"/>
                </a:solidFill>
                <a:latin typeface="Calibri"/>
              </a:defRPr>
            </a:pPr>
            <a:r>
              <a:t>180+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Tests Unitarios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91440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28090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15544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Controles con Tests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91440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28090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5544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Secrets en CI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011680"/>
            <a:ext cx="3931920" cy="12801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1488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Calibri"/>
              </a:defRPr>
            </a:pPr>
            <a:r>
              <a:t>TDD Estricto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5146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EF4444"/>
                </a:solidFill>
                <a:latin typeface="Calibri"/>
              </a:defRPr>
            </a:pPr>
            <a:r>
              <a:t>RED → GREEN → REFACTOR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880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94A3B8"/>
                </a:solidFill>
                <a:latin typeface="Calibri"/>
              </a:defRPr>
            </a:pPr>
            <a:r>
              <a:t>Tests escritos ANTES del código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2011680"/>
            <a:ext cx="4114800" cy="12801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21488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Calibri"/>
              </a:defRPr>
            </a:pPr>
            <a:r>
              <a:t>Tipos de Tests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251460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0F172A"/>
                </a:solidFill>
                <a:latin typeface="Calibri"/>
              </a:defRPr>
            </a:pPr>
            <a:r>
              <a:t>•  Unitarios: sin dependencias externas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807208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0F172A"/>
                </a:solidFill>
                <a:latin typeface="Calibri"/>
              </a:defRPr>
            </a:pPr>
            <a:r>
              <a:t>•  Integración: opt-in con describe.skip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3099816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0F172A"/>
                </a:solidFill>
                <a:latin typeface="Calibri"/>
              </a:defRPr>
            </a:pPr>
            <a:r>
              <a:t>•  Seguridad: regresión para todos los controles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474720"/>
            <a:ext cx="8229600" cy="1463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6118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2C39A"/>
                </a:solidFill>
                <a:latin typeface="Calibri"/>
              </a:defRPr>
            </a:pPr>
            <a:r>
              <a:t>CI Pipeline (GitHub Actions)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06908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2C39A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19" y="406908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Calibri"/>
              </a:defRPr>
            </a:pPr>
            <a:r>
              <a:t>npm ci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19" y="43891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94A3B8"/>
                </a:solidFill>
                <a:latin typeface="Calibri"/>
              </a:defRPr>
            </a:pPr>
            <a:r>
              <a:t>Instalación limpia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406908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2C39A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63240" y="406908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Calibri"/>
              </a:defRPr>
            </a:pPr>
            <a:r>
              <a:t>npm audit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63240" y="43891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94A3B8"/>
                </a:solidFill>
                <a:latin typeface="Calibri"/>
              </a:defRPr>
            </a:pPr>
            <a:r>
              <a:t>Seguridad de deps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406908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2C39A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66359" y="406908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Calibri"/>
              </a:defRPr>
            </a:pPr>
            <a:r>
              <a:t>npm test:coverage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66359" y="43891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94A3B8"/>
                </a:solidFill>
                <a:latin typeface="Calibri"/>
              </a:defRPr>
            </a:pPr>
            <a:r>
              <a:t>Tests + cobertura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406908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2C39A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69479" y="406908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Calibri"/>
              </a:defRPr>
            </a:pPr>
            <a:r>
              <a:t>npm build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69479" y="43891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94A3B8"/>
                </a:solidFill>
                <a:latin typeface="Calibri"/>
              </a:defRPr>
            </a:pPr>
            <a:r>
              <a:t>Compilación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Calibri Light"/>
              </a:defRPr>
            </a:pPr>
            <a:r>
              <a:t>Despliegue y Operación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4023360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0515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02C39A"/>
                </a:solidFill>
                <a:latin typeface="Calibri"/>
              </a:defRPr>
            </a:pPr>
            <a:r>
              <a:t>Next.js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94A3B8"/>
                </a:solidFill>
                <a:latin typeface="Calibri"/>
              </a:defRPr>
            </a:pPr>
            <a:r>
              <a:t>→ Vercel / Netlify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0" y="914400"/>
            <a:ext cx="4023360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92040" y="10515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0515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02C39A"/>
                </a:solidFill>
                <a:latin typeface="Calibri"/>
              </a:defRPr>
            </a:pPr>
            <a:r>
              <a:t>Node.js/Express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14173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94A3B8"/>
                </a:solidFill>
                <a:latin typeface="Calibri"/>
              </a:defRPr>
            </a:pPr>
            <a:r>
              <a:t>→ Render / Railway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011680"/>
            <a:ext cx="4023360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14884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214884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02C39A"/>
                </a:solidFill>
                <a:latin typeface="Calibri"/>
              </a:defRPr>
            </a:pPr>
            <a:r>
              <a:t>PostgreSQL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51460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94A3B8"/>
                </a:solidFill>
                <a:latin typeface="Calibri"/>
              </a:defRPr>
            </a:pPr>
            <a:r>
              <a:t>→ Supabase (Managed)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0" y="2011680"/>
            <a:ext cx="4023360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92040" y="214884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Auth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14884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02C39A"/>
                </a:solidFill>
                <a:latin typeface="Calibri"/>
              </a:defRPr>
            </a:pPr>
            <a:r>
              <a:t>Supabase Auth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251460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94A3B8"/>
                </a:solidFill>
                <a:latin typeface="Calibri"/>
              </a:defRPr>
            </a:pPr>
            <a:r>
              <a:t>→ Supabase (Managed)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1089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2C39A"/>
                </a:solidFill>
                <a:latin typeface="Calibri"/>
              </a:defRPr>
            </a:pPr>
            <a:r>
              <a:t>Verificación Post-Deploy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52044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FFFFFF"/>
                </a:solidFill>
                <a:latin typeface="Calibri"/>
              </a:defRPr>
            </a:pPr>
            <a:r>
              <a:t>☑ Login funciona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352044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FFFFFF"/>
                </a:solidFill>
                <a:latin typeface="Calibri"/>
              </a:defRPr>
            </a:pPr>
            <a:r>
              <a:t>☑ USER no puede ejecutar pipeline (403)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88620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FFFFFF"/>
                </a:solidFill>
                <a:latin typeface="Calibri"/>
              </a:defRPr>
            </a:pPr>
            <a:r>
              <a:t>☑ ADMIN ve panel y ejecuta pipeline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388620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FFFFFF"/>
                </a:solidFill>
                <a:latin typeface="Calibri"/>
              </a:defRPr>
            </a:pPr>
            <a:r>
              <a:t>☑ Password reset funciona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343400"/>
            <a:ext cx="8229600" cy="6400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43484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Variables críticas documentadas: SUPABASE_URL, API_URL, SERVICE_ROLE_KEY, CORS_ORIGINS, OPENAI_API_KEY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  <a:latin typeface="Calibri Light"/>
              </a:defRPr>
            </a:pPr>
            <a:r>
              <a:t>Flujo de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2651760" cy="12801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" y="1005840"/>
            <a:ext cx="365760" cy="36576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05156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Login USER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087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94A3B8"/>
                </a:solidFill>
                <a:latin typeface="Calibri"/>
              </a:defRPr>
            </a:pPr>
            <a:r>
              <a:t>Dashboard con datos reales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914400"/>
            <a:ext cx="2651760" cy="12801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383280" y="1005840"/>
            <a:ext cx="365760" cy="36576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05156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105156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Cambiar activos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15087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94A3B8"/>
                </a:solidFill>
                <a:latin typeface="Calibri"/>
              </a:defRPr>
            </a:pPr>
            <a:r>
              <a:t>BTC-USD, AAPL, EURUSD=X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914400"/>
            <a:ext cx="2651760" cy="12801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217920" y="1005840"/>
            <a:ext cx="365760" cy="36576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05156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105156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Verificar datos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5087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94A3B8"/>
                </a:solidFill>
                <a:latin typeface="Calibri"/>
              </a:defRPr>
            </a:pPr>
            <a:r>
              <a:t>Precios en Google Finance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377440"/>
            <a:ext cx="2651760" cy="12801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48640" y="2468880"/>
            <a:ext cx="365760" cy="36576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251460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251460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Login ADMIN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29718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94A3B8"/>
                </a:solidFill>
                <a:latin typeface="Calibri"/>
              </a:defRPr>
            </a:pPr>
            <a:r>
              <a:t>Panel /dashboard/admin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91840" y="2377440"/>
            <a:ext cx="2651760" cy="12801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383280" y="2468880"/>
            <a:ext cx="365760" cy="36576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83280" y="251460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251460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Ejecutar pipeline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9718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94A3B8"/>
                </a:solidFill>
                <a:latin typeface="Calibri"/>
              </a:defRPr>
            </a:pPr>
            <a:r>
              <a:t>Insight + Recomendación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6480" y="2377440"/>
            <a:ext cx="2651760" cy="12801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217920" y="2468880"/>
            <a:ext cx="365760" cy="36576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0" y="251460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251460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USER → pipeline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29718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94A3B8"/>
                </a:solidFill>
                <a:latin typeface="Calibri"/>
              </a:defRPr>
            </a:pPr>
            <a:r>
              <a:t>Error 403 (demostración RBAC)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3977639"/>
            <a:ext cx="8229600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4069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2C39A"/>
                </a:solidFill>
                <a:latin typeface="Calibri"/>
              </a:defRPr>
            </a:pPr>
            <a:r>
              <a:t>Rutas Clave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4434840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Calibri"/>
              </a:defRPr>
            </a:pPr>
            <a:r>
              <a:t>/dashboard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4663440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94A3B8"/>
                </a:solidFill>
                <a:latin typeface="Calibri"/>
              </a:defRPr>
            </a:pPr>
            <a:r>
              <a:t>Panel usuario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83280" y="4434840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Calibri"/>
              </a:defRPr>
            </a:pPr>
            <a:r>
              <a:t>/dashboard/admin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83280" y="4663440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94A3B8"/>
                </a:solidFill>
                <a:latin typeface="Calibri"/>
              </a:defRPr>
            </a:pPr>
            <a:r>
              <a:t>Panel admin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26480" y="4434840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Calibri"/>
              </a:defRPr>
            </a:pPr>
            <a:r>
              <a:t>/reset-password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26480" y="4663440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94A3B8"/>
                </a:solidFill>
                <a:latin typeface="Calibri"/>
              </a:defRPr>
            </a:pPr>
            <a:r>
              <a:t>Recuperación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Calibri Light"/>
              </a:defRPr>
            </a:pPr>
            <a:r>
              <a:t>Limitaciones y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4023360" cy="2194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9E0B"/>
                </a:solidFill>
                <a:latin typeface="Calibri"/>
              </a:defRPr>
            </a:pPr>
            <a:r>
              <a:t>Decisiones MVP (intencionales)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 Sin MFA (evitar sobreingeniería)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47088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 Sin ejecución de trading real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31136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 Sin E2E tests con Playwright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15184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 Pipeline on-demand (sin scheduler)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914400"/>
            <a:ext cx="4023360" cy="1188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10515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Calibri"/>
              </a:defRPr>
            </a:pPr>
            <a:r>
              <a:t>✓ Ya Implementado (opcional)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14630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 Rate limiting distribuido (Supabase)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1810512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 Audit logs persistentes (Supabase)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2194560"/>
            <a:ext cx="4023360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23317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2C39A"/>
                </a:solidFill>
                <a:latin typeface="Calibri"/>
              </a:defRPr>
            </a:pPr>
            <a:r>
              <a:t>→ Roadmap Futuro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269748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Calibri"/>
              </a:defRPr>
            </a:pPr>
            <a:r>
              <a:t>Scheduler automático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79" y="269748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Calibri"/>
              </a:defRPr>
            </a:pPr>
            <a:r>
              <a:t>Más activos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269748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Calibri"/>
              </a:defRPr>
            </a:pPr>
            <a:r>
              <a:t>Optimización portafolios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246120"/>
            <a:ext cx="8229600" cy="9144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3375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Calibri"/>
              </a:defRPr>
            </a:pPr>
            <a:r>
              <a:t>Security Audit: PASS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703320"/>
            <a:ext cx="7772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Calibri"/>
              </a:defRPr>
            </a:pPr>
            <a:r>
              <a:t>Prácticas de seguridad production-grade • OWASP Top 10 mapeado • Todos los findings de alta prioridad resueltos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Calibri Light"/>
              </a:defRPr>
            </a:pPr>
            <a:r>
              <a:t>"InversorAI no busca predecir el mercado,</a:t>
            </a:r>
          </a:p>
          <a:p>
            <a:pPr algn="ctr">
              <a:defRPr sz="2800" b="0">
                <a:solidFill>
                  <a:srgbClr val="FFFFFF"/>
                </a:solidFill>
                <a:latin typeface="Calibri Light"/>
              </a:defRPr>
            </a:pPr>
            <a:r>
              <a:t>busca demostrar cómo se construyen</a:t>
            </a:r>
          </a:p>
          <a:p>
            <a:pPr algn="ctr">
              <a:defRPr sz="2800" b="0">
                <a:solidFill>
                  <a:srgbClr val="02C39A"/>
                </a:solidFill>
                <a:latin typeface="Calibri Light"/>
              </a:defRPr>
            </a:pPr>
            <a:r>
              <a:t>sistemas serios cuando hay IA involucrada"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94A3B8"/>
                </a:solidFill>
                <a:latin typeface="Calibri"/>
              </a:defRPr>
            </a:pPr>
            <a:r>
              <a:t>✓  Clean Architecture con casos de uso explícitos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2926080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94A3B8"/>
                </a:solidFill>
                <a:latin typeface="Calibri"/>
              </a:defRPr>
            </a:pPr>
            <a:r>
              <a:t>✓  IA controlada, trazable y auditable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83280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94A3B8"/>
                </a:solidFill>
                <a:latin typeface="Calibri"/>
              </a:defRPr>
            </a:pPr>
            <a:r>
              <a:t>✓  Seguridad production-grade con RBAC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3383280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94A3B8"/>
                </a:solidFill>
                <a:latin typeface="Calibri"/>
              </a:defRPr>
            </a:pPr>
            <a:r>
              <a:t>✓  180+ tests, CI/CD, despliegue documentado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0" y="4023360"/>
            <a:ext cx="1828800" cy="1828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 Light"/>
              </a:defRPr>
            </a:pPr>
            <a:r>
              <a:t>Gracias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02C39A"/>
                </a:solidFill>
                <a:latin typeface="Calibri"/>
              </a:defRPr>
            </a:pPr>
            <a:r>
              <a:t>¿Preguntas?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